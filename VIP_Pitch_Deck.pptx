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Intangible share</c:v>
                </c:pt>
              </c:strCache>
            </c:strRef>
          </c:tx>
          <c:spPr>
            <a:solidFill>
              <a:srgbClr val="A66F18"/>
            </a:solidFill>
            <a:ln w="38100" cap="flat">
              <a:solidFill>
                <a:srgbClr val="A66F18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42C"/>
                    </a:solidFill>
                    <a:latin typeface="Consola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66F18"/>
              </a:solidFill>
              <a:ln w="9525" cap="flat">
                <a:solidFill>
                  <a:srgbClr val="A66F1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1975</c:v>
                  </c:pt>
                  <c:pt idx="1">
                    <c:v>1995</c:v>
                  </c:pt>
                  <c:pt idx="2">
                    <c:v>2005</c:v>
                  </c:pt>
                  <c:pt idx="3">
                    <c:v>2015</c:v>
                  </c:pt>
                  <c:pt idx="4">
                    <c:v>2020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68</c:v>
                </c:pt>
                <c:pt idx="2">
                  <c:v>80</c:v>
                </c:pt>
                <c:pt idx="3">
                  <c:v>84</c:v>
                </c:pt>
                <c:pt idx="4">
                  <c:v>90</c:v>
                </c:pt>
              </c:numCache>
            </c:numRef>
          </c:val>
          <c:smooth val="1"/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0242C"/>
                  </a:solidFill>
                  <a:latin typeface="Consola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5C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5EF"/>
        </a:solidFill>
        <a:ln>
          <a:noFill/>
        </a:ln>
        <a:effectLst/>
      </c:spPr>
    </c:plotArea>
    <c:plotVisOnly val="1"/>
    <c:dispBlanksAs val="span"/>
  </c:chart>
  <c:spPr>
    <a:solidFill>
      <a:srgbClr val="F7F5E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A9743">
                <a:alpha val="22000"/>
              </a:srgbClr>
            </a:solidFill>
            <a:ln w="28575" cap="flat">
              <a:solidFill>
                <a:srgbClr val="CA9743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A9743"/>
              </a:solidFill>
              <a:ln w="9525" cap="flat">
                <a:solidFill>
                  <a:srgbClr val="CA97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Financial</c:v>
                  </c:pt>
                  <c:pt idx="1">
                    <c:v>Tech</c:v>
                  </c:pt>
                  <c:pt idx="2">
                    <c:v>Human</c:v>
                  </c:pt>
                  <c:pt idx="3">
                    <c:v>Relational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54</c:v>
                </c:pt>
                <c:pt idx="2">
                  <c:v>71</c:v>
                </c:pt>
                <c:pt idx="3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EB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2026"/>
        </a:solidFill>
        <a:ln>
          <a:noFill/>
        </a:ln>
        <a:effectLst/>
      </c:spPr>
    </c:plotArea>
    <c:plotVisOnly val="1"/>
    <c:dispBlanksAs val="span"/>
  </c:chart>
  <c:spPr>
    <a:solidFill>
      <a:srgbClr val="1C202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 (M)</c:v>
                </c:pt>
              </c:strCache>
            </c:strRef>
          </c:tx>
          <c:spPr>
            <a:solidFill>
              <a:srgbClr val="20242C"/>
            </a:solidFill>
            <a:effectLst/>
          </c:spPr>
          <c:invertIfNegative val="0"/>
          <c:dLbls>
            <c:numFmt formatCode="€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42C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024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6F1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Today</c:v>
                  </c:pt>
                  <c:pt idx="1">
                    <c:v>Potential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</c:v>
                </c:pt>
                <c:pt idx="1">
                  <c:v>5.8</c:v>
                </c:pt>
              </c:numCache>
            </c:numRef>
          </c:val>
        </c:ser>
        <c:dLbls>
          <c:numFmt formatCode="€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242C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C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5EF"/>
        </a:solidFill>
        <a:ln>
          <a:noFill/>
        </a:ln>
        <a:effectLst/>
      </c:spPr>
    </c:plotArea>
    <c:plotVisOnly val="1"/>
    <c:dispBlanksAs val="span"/>
  </c:chart>
  <c:spPr>
    <a:solidFill>
      <a:srgbClr val="F7F5E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A66F18">
                <a:alpha val="22000"/>
              </a:srgbClr>
            </a:solidFill>
            <a:ln w="28575" cap="flat">
              <a:solidFill>
                <a:srgbClr val="A66F1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A66F18"/>
              </a:solidFill>
              <a:ln w="9525" cap="flat">
                <a:solidFill>
                  <a:srgbClr val="A66F1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Financial</c:v>
                  </c:pt>
                  <c:pt idx="1">
                    <c:v>Tech</c:v>
                  </c:pt>
                  <c:pt idx="2">
                    <c:v>Human</c:v>
                  </c:pt>
                  <c:pt idx="3">
                    <c:v>Relational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54</c:v>
                </c:pt>
                <c:pt idx="2">
                  <c:v>71</c:v>
                </c:pt>
                <c:pt idx="3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45C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5EF"/>
        </a:solidFill>
        <a:ln>
          <a:noFill/>
        </a:ln>
        <a:effectLst/>
      </c:spPr>
    </c:plotArea>
    <c:plotVisOnly val="1"/>
    <c:dispBlanksAs val="span"/>
  </c:chart>
  <c:spPr>
    <a:solidFill>
      <a:srgbClr val="F7F5E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B8453E">
                <a:alpha val="22000"/>
              </a:srgbClr>
            </a:solidFill>
            <a:ln w="28575" cap="flat">
              <a:solidFill>
                <a:srgbClr val="B8453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B8453E"/>
              </a:solidFill>
              <a:ln w="9525" cap="flat">
                <a:solidFill>
                  <a:srgbClr val="B845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Financial</c:v>
                  </c:pt>
                  <c:pt idx="1">
                    <c:v>Tech</c:v>
                  </c:pt>
                  <c:pt idx="2">
                    <c:v>Human</c:v>
                  </c:pt>
                  <c:pt idx="3">
                    <c:v>Relational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30</c:v>
                </c:pt>
                <c:pt idx="2">
                  <c:v>40</c:v>
                </c:pt>
                <c:pt idx="3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45C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5EF"/>
        </a:solidFill>
        <a:ln>
          <a:noFill/>
        </a:ln>
        <a:effectLst/>
      </c:spPr>
    </c:plotArea>
    <c:plotVisOnly val="1"/>
    <c:dispBlanksAs val="span"/>
  </c:chart>
  <c:spPr>
    <a:solidFill>
      <a:srgbClr val="F7F5E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a story, not a spec. We will follow one entrepreneur the whole way through — problem, model, product,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protagonist. Deliberately ordinary and specific — a real Italian machinery SME. Everything that follows happens to Marco.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hook of the whole pitch. Owners carry the operating numbers in their head; the valuation is a black box. That gap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 out. Marco is one of 4.9 million. This is not a niche — it is the median Italian enterprise, and it is underserved.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structural reason valuation broke: value migrated to intangibles, but SME accounting and EBITDA×multiple still price the tangible shell. Our four-capital model exists to see the other 80%.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stakes. The blind spot is not academic — it costs owners real money at exactly the moment that matters most. This closes deliverable A: the problem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incumbents, three failures, one gap. This is the explicit problem-definition deliverable. The next act is our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from problem to solution. The health-check metaphor frames the four-capital model and recurs through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spine. Weights shown up front — financial leads at 35%, but the other three together carry 65%, which is the whole point. Deliverable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originality argument, grounded in real M&amp;A behaviour: concentration discounts and recurring-revenue premiums are well documented. SQF encodes what good buyers already price by instinct.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C. The burden on Marco is 19 qualitative answers; the heavy quantitative lifting is pulled from AIDA automatically. Synthesis over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D — the algorithmic logic. Each stage is a real module. Weights are justified by the four-capital structure and clamped to defensible ranges.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formula, then Marco's actual numbers plugged in. Two factors are the originality — SQF and GF — and both have visible, sourced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Credibility. We are grounded in a real, large cohort, with a concrete validation plan and an automated calibration test in the codebase. Pre-empts the 'how do you know it's right'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E — platform output, shown as the live cockpit with Marco's real numbers. The radar, value, value gap and top-3 are exactly what the brief's mockup must contain.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G — UX. Restraint is the design: lead with the decision, hide the machinery, refuse false precision. This is what 'simple yet powerful'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emotional peak. The Value Gap is the brief's named differentiator and the product's headline — the upside an owner can actually chase.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signature output device. Makes the four-capital idea instantly legible and comparable — the kind of 'output quality' the rubric explicitly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F. The recommendations are not generic advice — each uplift is computed by re-running the valuation with that lever moved, so the numbers are internally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headline originality, and it is live. The simulation turns the platform from a rear-view mirror into a steering wheel.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payoff — bookends Marco's intro. The product's value is not the estimate; it is the agency it gives the owner. This is the managerial-utility argument made as a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model. Free tier seeds adoption with the full methodology; Pro monetises power users; Advisory Desk targets the M&amp;A scouts who value many companies. Annual = ten months for twelve.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Executive-summary slide, written for an investor. The wedge is frequency — turning a rare, dreaded event into a routine habit across a 26-million-firm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Feasibility, answered by demonstration. Keep this slide ready in Q&amp;A; it confirms every required deliverable is not just designed but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mission, tied back to Marco and the 4.9 million. Invite questions; have slides 10, 14 and 24 ready for the four likely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ln w="12700">
            <a:solidFill>
              <a:srgbClr val="2C323A"/>
            </a:solidFill>
            <a:prstDash val="solid"/>
          </a:ln>
        </p:spPr>
      </p:sp>
      <p:pic>
        <p:nvPicPr>
          <p:cNvPr id="4" name="Image 0" descr="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616" y="6583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ECEF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 IN DATA SCIENCE FOR MANAGEMENT · UNIVERSITÀ CATTOLICA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6656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Intelligence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76656" y="3511296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of an entrepreneur who finally learned what his company was worth — and what to do about it.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Bhavandla · Final Exam, Management for Digital Enterprise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 · THE BLIND SPOT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Marco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built Bianchi Meccanica over 25 years — precision machinery, just outside Milan. 42 employees. €4M in revenue. He is 58, and last month a competitor asked, quietly, whether he'd ever consider selling.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A66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know this business better than anyone alive.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A66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 no idea what it's worth.”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040880" y="1645920"/>
            <a:ext cx="45079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0" y="1645920"/>
            <a:ext cx="4507992" cy="73152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BIANCHI MECCANICA S.R.L.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Machinery · NACE 28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2852928"/>
            <a:ext cx="4023360" cy="0"/>
          </a:xfrm>
          <a:prstGeom prst="line">
            <a:avLst/>
          </a:prstGeom>
          <a:noFill/>
          <a:ln w="6350">
            <a:solidFill>
              <a:srgbClr val="DAD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Lombardia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3401568"/>
            <a:ext cx="4023360" cy="0"/>
          </a:xfrm>
          <a:prstGeom prst="line">
            <a:avLst/>
          </a:prstGeom>
          <a:noFill/>
          <a:ln w="6350">
            <a:solidFill>
              <a:srgbClr val="DAD5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 · owner-led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3950208"/>
            <a:ext cx="4023360" cy="0"/>
          </a:xfrm>
          <a:prstGeom prst="line">
            <a:avLst/>
          </a:prstGeom>
          <a:noFill/>
          <a:ln w="6350">
            <a:solidFill>
              <a:srgbClr val="DAD5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4498848"/>
            <a:ext cx="4023360" cy="0"/>
          </a:xfrm>
          <a:prstGeom prst="line">
            <a:avLst/>
          </a:prstGeom>
          <a:noFill/>
          <a:ln w="6350">
            <a:solidFill>
              <a:srgbClr val="DAD5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4572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€4.0M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0" y="5047488"/>
            <a:ext cx="4023360" cy="0"/>
          </a:xfrm>
          <a:prstGeom prst="line">
            <a:avLst/>
          </a:prstGeom>
          <a:noFill/>
          <a:ln w="6350">
            <a:solidFill>
              <a:srgbClr val="DAD5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5120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0" y="5120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€750K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 · THE BLIND SPOT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can recite every number but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€4.0M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19202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2148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35808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35808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9202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148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€610K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30368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 bank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0368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19202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2148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24928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24928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0" y="1920240"/>
            <a:ext cx="2404872" cy="1554480"/>
          </a:xfrm>
          <a:prstGeom prst="rect">
            <a:avLst/>
          </a:prstGeom>
          <a:solidFill>
            <a:srgbClr val="14161B"/>
          </a:solidFill>
          <a:ln w="19050">
            <a:solidFill>
              <a:srgbClr val="A66F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011680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23544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value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A66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single most important number about his life's work — the one a buyer, a bank, or his children would ask first — is the one number Marco cannot defend.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 · THE BLIND SPOT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4.9 million Marcos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4.9M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50392" y="3337560"/>
            <a:ext cx="640080" cy="36576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in Italy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of any EU country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416552" y="3337560"/>
            <a:ext cx="640080" cy="36576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Italian firms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economy IS small business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5200" dirty="0"/>
          </a:p>
        </p:txBody>
      </p:sp>
      <p:sp>
        <p:nvSpPr>
          <p:cNvPr id="13" name="Shape 11"/>
          <p:cNvSpPr/>
          <p:nvPr/>
        </p:nvSpPr>
        <p:spPr>
          <a:xfrm>
            <a:off x="7982712" y="3337560"/>
            <a:ext cx="640080" cy="36576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private employment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13 million people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model works for Marco, it works for the backbone of the Italian economy.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2C3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· ISTAT 2024 · OECD SME country note 2025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 · THE BLIND SPOT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went invisible — accounting didn't follow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listed companies, the share of value sitting in intangibles — brand, systems, relationships, know-how — went from a sixth to nine-tenths in a generation. Marco's balance sheet still only counts the machines.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66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S&amp;P 500 market value is now intangible — the part a standard valuation barely sees.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92240" y="1783080"/>
          <a:ext cx="5029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· Ocean Tomo Intangible Asset Market Value Study, 1975–2020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 · THE BLIND SPOT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knowing is expensive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1225296"/>
          </a:xfrm>
          <a:prstGeom prst="rect">
            <a:avLst/>
          </a:prstGeom>
          <a:solidFill>
            <a:srgbClr val="2A5FA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24688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566160" y="200253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owners have never had an independent valuation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2459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flying blind on their largest asset.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72968"/>
            <a:ext cx="10908792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172968"/>
            <a:ext cx="64008" cy="1225296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72968"/>
            <a:ext cx="24688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6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30–60%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66160" y="33924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gap between perceived and real value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84962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too cheap, or scare every buyer away.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62856"/>
            <a:ext cx="10908792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562856"/>
            <a:ext cx="64008" cy="1225296"/>
          </a:xfrm>
          <a:prstGeom prst="rect">
            <a:avLst/>
          </a:prstGeom>
          <a:solidFill>
            <a:srgbClr val="B8453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62856"/>
            <a:ext cx="24688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566160" y="47823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family businesses fail to transition successfully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52395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12% reach the third generation.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· Exit-planning industry data · family-business succession research (FBCG)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 A · PROBLEM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Marco could turn to falls short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1207008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accountant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38658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estimate, once. Blind to fragility, transferability, the qualities that move a multiple.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829800" y="2212848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F0E7D5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2128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 SHALLOW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154680"/>
            <a:ext cx="64008" cy="1207008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375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ERP / software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75818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what happened. Never says what the company is worth or what to change.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29800" y="3584448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F0E7D5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3584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JOB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526280"/>
            <a:ext cx="64008" cy="1207008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09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M&amp;A advisor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12978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but slow, costly, and only at the moment of sale — not a standing compass.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29800" y="4956048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F0E7D5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49560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OF REACH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6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white space: a standing, affordable, owner-facing value compass. So we built one.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II · 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14630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a company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be 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i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like a health check?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number from one organ. Four vital signs, scored, combined into a value — and a diagnosis Marco can act 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2C3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 B · LOGICAL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capitals make a company's value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58384" y="2743200"/>
            <a:ext cx="1463040" cy="1463040"/>
          </a:xfrm>
          <a:prstGeom prst="ellipse">
            <a:avLst/>
          </a:prstGeom>
          <a:solidFill>
            <a:srgbClr val="14161B"/>
          </a:solidFill>
          <a:ln w="19050">
            <a:solidFill>
              <a:srgbClr val="A66F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58384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5720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4572000" cy="64008"/>
          </a:xfrm>
          <a:prstGeom prst="rect">
            <a:avLst/>
          </a:prstGeom>
          <a:solidFill>
            <a:srgbClr val="2A5FA0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2039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45C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 weight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25603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· growth · recurring revenue · client concentration · cash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76872" y="1783080"/>
            <a:ext cx="45720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76872" y="1783080"/>
            <a:ext cx="4572000" cy="64008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13" name="Text 11"/>
          <p:cNvSpPr/>
          <p:nvPr/>
        </p:nvSpPr>
        <p:spPr>
          <a:xfrm>
            <a:off x="7232904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5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Technological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94392" y="2039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45C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 weight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32904" y="25603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· automation · proprietary data · systems · 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45720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77640"/>
            <a:ext cx="4572000" cy="64008"/>
          </a:xfrm>
          <a:prstGeom prst="rect">
            <a:avLst/>
          </a:prstGeom>
          <a:solidFill>
            <a:srgbClr val="B86B3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&amp; Org.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4233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45C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 weight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47548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depth · founder dependency · processes · transferability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76872" y="3977640"/>
            <a:ext cx="45720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76872" y="3977640"/>
            <a:ext cx="4572000" cy="64008"/>
          </a:xfrm>
          <a:prstGeom prst="rect">
            <a:avLst/>
          </a:prstGeom>
          <a:solidFill>
            <a:srgbClr val="1E7A44"/>
          </a:solidFill>
          <a:ln/>
        </p:spPr>
      </p:sp>
      <p:sp>
        <p:nvSpPr>
          <p:cNvPr id="23" name="Text 21"/>
          <p:cNvSpPr/>
          <p:nvPr/>
        </p:nvSpPr>
        <p:spPr>
          <a:xfrm>
            <a:off x="7232904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94392" y="4233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45C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 weight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32904" y="47548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partnerships · brand · ecosystem · reputation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IT'S MORE PREDICTIVE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EBITDA. Very different worth.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60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276088" cy="73152"/>
          </a:xfrm>
          <a:prstGeom prst="rect">
            <a:avLst/>
          </a:prstGeom>
          <a:solidFill>
            <a:srgbClr val="B8453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fragile twin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 €750K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044952"/>
            <a:ext cx="73152" cy="73152"/>
          </a:xfrm>
          <a:prstGeom prst="ellipse">
            <a:avLst/>
          </a:prstGeom>
          <a:solidFill>
            <a:srgbClr val="B8453E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29809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client = 70% of revenue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3429000"/>
            <a:ext cx="73152" cy="73152"/>
          </a:xfrm>
          <a:prstGeom prst="ellipse">
            <a:avLst/>
          </a:prstGeom>
          <a:solidFill>
            <a:srgbClr val="B8453E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3649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signs every deal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3813048"/>
            <a:ext cx="73152" cy="73152"/>
          </a:xfrm>
          <a:prstGeom prst="ellipse">
            <a:avLst/>
          </a:prstGeom>
          <a:solidFill>
            <a:srgbClr val="B8453E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3749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recurring revenue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4197096"/>
            <a:ext cx="73152" cy="73152"/>
          </a:xfrm>
          <a:prstGeom prst="ellipse">
            <a:avLst/>
          </a:prstGeom>
          <a:solidFill>
            <a:srgbClr val="B8453E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41330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SQF × 0.74   </a:t>
            </a:r>
            <a:pPr indent="0" marL="0">
              <a:buNone/>
            </a:pPr>
            <a:r>
              <a:rPr lang="en-US" sz="1600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€3.1M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72784" y="1783080"/>
            <a:ext cx="52760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1783080"/>
            <a:ext cx="5276088" cy="73152"/>
          </a:xfrm>
          <a:prstGeom prst="rect">
            <a:avLst/>
          </a:prstGeom>
          <a:solidFill>
            <a:srgbClr val="1C7A48"/>
          </a:solidFill>
          <a:ln/>
        </p:spPr>
      </p:sp>
      <p:sp>
        <p:nvSpPr>
          <p:cNvPr id="19" name="Text 17"/>
          <p:cNvSpPr/>
          <p:nvPr/>
        </p:nvSpPr>
        <p:spPr>
          <a:xfrm>
            <a:off x="6592824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Bianchi Meccanica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92824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 €750K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38544" y="3044952"/>
            <a:ext cx="73152" cy="73152"/>
          </a:xfrm>
          <a:prstGeom prst="ellipse">
            <a:avLst/>
          </a:prstGeom>
          <a:solidFill>
            <a:srgbClr val="1C7A48"/>
          </a:solidFill>
          <a:ln/>
        </p:spPr>
      </p:sp>
      <p:sp>
        <p:nvSpPr>
          <p:cNvPr id="22" name="Text 20"/>
          <p:cNvSpPr/>
          <p:nvPr/>
        </p:nvSpPr>
        <p:spPr>
          <a:xfrm>
            <a:off x="6839712" y="29809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clients &lt; 40%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38544" y="3429000"/>
            <a:ext cx="73152" cy="73152"/>
          </a:xfrm>
          <a:prstGeom prst="ellipse">
            <a:avLst/>
          </a:prstGeom>
          <a:solidFill>
            <a:srgbClr val="1C7A48"/>
          </a:solidFill>
          <a:ln/>
        </p:spPr>
      </p:sp>
      <p:sp>
        <p:nvSpPr>
          <p:cNvPr id="24" name="Text 22"/>
          <p:cNvSpPr/>
          <p:nvPr/>
        </p:nvSpPr>
        <p:spPr>
          <a:xfrm>
            <a:off x="6839712" y="33649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runs delivery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38544" y="3813048"/>
            <a:ext cx="73152" cy="73152"/>
          </a:xfrm>
          <a:prstGeom prst="ellipse">
            <a:avLst/>
          </a:prstGeom>
          <a:solidFill>
            <a:srgbClr val="1C7A48"/>
          </a:solidFill>
          <a:ln/>
        </p:spPr>
      </p:sp>
      <p:sp>
        <p:nvSpPr>
          <p:cNvPr id="26" name="Text 24"/>
          <p:cNvSpPr/>
          <p:nvPr/>
        </p:nvSpPr>
        <p:spPr>
          <a:xfrm>
            <a:off x="6839712" y="3749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service contracts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38544" y="4197096"/>
            <a:ext cx="73152" cy="73152"/>
          </a:xfrm>
          <a:prstGeom prst="ellipse">
            <a:avLst/>
          </a:prstGeom>
          <a:solidFill>
            <a:srgbClr val="1C7A48"/>
          </a:solidFill>
          <a:ln/>
        </p:spPr>
      </p:sp>
      <p:sp>
        <p:nvSpPr>
          <p:cNvPr id="28" name="Text 26"/>
          <p:cNvSpPr/>
          <p:nvPr/>
        </p:nvSpPr>
        <p:spPr>
          <a:xfrm>
            <a:off x="6839712" y="41330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processes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92824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SQF × 1.05   </a:t>
            </a:r>
            <a:pPr indent="0" marL="0">
              <a:buNone/>
            </a:pPr>
            <a:r>
              <a:rPr lang="en-US" sz="1600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€4.2M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52578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already do this in their heads — a client over 10% of revenue compresses the multiple; recurring revenue lifts it. The SQF just makes that judgment explicit and repeatable.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· Customer-concentration &amp; recurring-revenue effects on M&amp;A multiples, market data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 C · QUESTIONNAIRE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ask Marco — and what we already know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9300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493008" cy="502920"/>
          </a:xfrm>
          <a:prstGeom prst="rect">
            <a:avLst/>
          </a:prstGeom>
          <a:solidFill>
            <a:srgbClr val="2A5F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Pulled from AIDA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496312"/>
            <a:ext cx="73152" cy="73152"/>
          </a:xfrm>
          <a:prstGeom prst="ellipse">
            <a:avLst/>
          </a:prstGeom>
          <a:solidFill>
            <a:srgbClr val="2A5FA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32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3 years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916936"/>
            <a:ext cx="73152" cy="73152"/>
          </a:xfrm>
          <a:prstGeom prst="ellipse">
            <a:avLst/>
          </a:prstGeom>
          <a:solidFill>
            <a:srgbClr val="2A5FA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529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&amp; margins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73152" cy="73152"/>
          </a:xfrm>
          <a:prstGeom prst="ellipse">
            <a:avLst/>
          </a:prstGeom>
          <a:solidFill>
            <a:srgbClr val="2A5FA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735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financial position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758184"/>
            <a:ext cx="73152" cy="73152"/>
          </a:xfrm>
          <a:prstGeom prst="ellipse">
            <a:avLst/>
          </a:prstGeom>
          <a:solidFill>
            <a:srgbClr val="2A5FA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6941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&amp; productivity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178808"/>
            <a:ext cx="73152" cy="73152"/>
          </a:xfrm>
          <a:prstGeom prst="ellipse">
            <a:avLst/>
          </a:prstGeom>
          <a:solidFill>
            <a:srgbClr val="2A5FA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14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intensity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599432"/>
            <a:ext cx="73152" cy="73152"/>
          </a:xfrm>
          <a:prstGeom prst="ellipse">
            <a:avLst/>
          </a:prstGeom>
          <a:solidFill>
            <a:srgbClr val="2A5FA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5354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sector &amp; peers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 Marco types nothing.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34256" y="1691640"/>
            <a:ext cx="349300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34256" y="1691640"/>
            <a:ext cx="3493008" cy="502920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22" name="Text 20"/>
          <p:cNvSpPr/>
          <p:nvPr/>
        </p:nvSpPr>
        <p:spPr>
          <a:xfrm>
            <a:off x="4562856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19-question diagnostic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08576" y="2496312"/>
            <a:ext cx="73152" cy="73152"/>
          </a:xfrm>
          <a:prstGeom prst="ellipse">
            <a:avLst/>
          </a:prstGeom>
          <a:solidFill>
            <a:srgbClr val="5B5FD6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2432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dependency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08576" y="2916936"/>
            <a:ext cx="73152" cy="73152"/>
          </a:xfrm>
          <a:prstGeom prst="ellipse">
            <a:avLst/>
          </a:prstGeom>
          <a:solidFill>
            <a:srgbClr val="5B5FD6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28529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structure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08576" y="3337560"/>
            <a:ext cx="73152" cy="73152"/>
          </a:xfrm>
          <a:prstGeom prst="ellipse">
            <a:avLst/>
          </a:prstGeom>
          <a:solidFill>
            <a:srgbClr val="5B5FD6"/>
          </a:solidFill>
          <a:ln/>
        </p:spPr>
      </p:sp>
      <p:sp>
        <p:nvSpPr>
          <p:cNvPr id="28" name="Text 26"/>
          <p:cNvSpPr/>
          <p:nvPr/>
        </p:nvSpPr>
        <p:spPr>
          <a:xfrm>
            <a:off x="4791456" y="32735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08576" y="3758184"/>
            <a:ext cx="73152" cy="73152"/>
          </a:xfrm>
          <a:prstGeom prst="ellipse">
            <a:avLst/>
          </a:prstGeom>
          <a:solidFill>
            <a:srgbClr val="5B5FD6"/>
          </a:solidFill>
          <a:ln/>
        </p:spPr>
      </p:sp>
      <p:sp>
        <p:nvSpPr>
          <p:cNvPr id="30" name="Text 28"/>
          <p:cNvSpPr/>
          <p:nvPr/>
        </p:nvSpPr>
        <p:spPr>
          <a:xfrm>
            <a:off x="4791456" y="36941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portfolio quality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08576" y="4178808"/>
            <a:ext cx="73152" cy="73152"/>
          </a:xfrm>
          <a:prstGeom prst="ellipse">
            <a:avLst/>
          </a:prstGeom>
          <a:solidFill>
            <a:srgbClr val="5B5FD6"/>
          </a:solidFill>
          <a:ln/>
        </p:spPr>
      </p:sp>
      <p:sp>
        <p:nvSpPr>
          <p:cNvPr id="32" name="Text 30"/>
          <p:cNvSpPr/>
          <p:nvPr/>
        </p:nvSpPr>
        <p:spPr>
          <a:xfrm>
            <a:off x="4791456" y="4114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08576" y="4599432"/>
            <a:ext cx="73152" cy="73152"/>
          </a:xfrm>
          <a:prstGeom prst="ellipse">
            <a:avLst/>
          </a:prstGeom>
          <a:solidFill>
            <a:srgbClr val="5B5FD6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45354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strength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62856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scored 1–5 + 2 context. ~5 min.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28432" y="1691640"/>
            <a:ext cx="349300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28432" y="1691640"/>
            <a:ext cx="3493008" cy="502920"/>
          </a:xfrm>
          <a:prstGeom prst="rect">
            <a:avLst/>
          </a:prstGeom>
          <a:solidFill>
            <a:srgbClr val="B86B3A"/>
          </a:solidFill>
          <a:ln/>
        </p:spPr>
      </p:sp>
      <p:sp>
        <p:nvSpPr>
          <p:cNvPr id="38" name="Text 36"/>
          <p:cNvSpPr/>
          <p:nvPr/>
        </p:nvSpPr>
        <p:spPr>
          <a:xfrm>
            <a:off x="8257032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302752" y="2496312"/>
            <a:ext cx="73152" cy="73152"/>
          </a:xfrm>
          <a:prstGeom prst="ellipse">
            <a:avLst/>
          </a:prstGeom>
          <a:solidFill>
            <a:srgbClr val="B86B3A"/>
          </a:solidFill>
          <a:ln/>
        </p:spPr>
      </p:sp>
      <p:sp>
        <p:nvSpPr>
          <p:cNvPr id="40" name="Text 38"/>
          <p:cNvSpPr/>
          <p:nvPr/>
        </p:nvSpPr>
        <p:spPr>
          <a:xfrm>
            <a:off x="8485632" y="2432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302752" y="2916936"/>
            <a:ext cx="73152" cy="73152"/>
          </a:xfrm>
          <a:prstGeom prst="ellipse">
            <a:avLst/>
          </a:prstGeom>
          <a:solidFill>
            <a:srgbClr val="B86B3A"/>
          </a:solidFill>
          <a:ln/>
        </p:spPr>
      </p:sp>
      <p:sp>
        <p:nvSpPr>
          <p:cNvPr id="42" name="Text 40"/>
          <p:cNvSpPr/>
          <p:nvPr/>
        </p:nvSpPr>
        <p:spPr>
          <a:xfrm>
            <a:off x="8485632" y="28529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assets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302752" y="3337560"/>
            <a:ext cx="73152" cy="73152"/>
          </a:xfrm>
          <a:prstGeom prst="ellipse">
            <a:avLst/>
          </a:prstGeom>
          <a:solidFill>
            <a:srgbClr val="B86B3A"/>
          </a:solidFill>
          <a:ln/>
        </p:spPr>
      </p:sp>
      <p:sp>
        <p:nvSpPr>
          <p:cNvPr id="44" name="Text 42"/>
          <p:cNvSpPr/>
          <p:nvPr/>
        </p:nvSpPr>
        <p:spPr>
          <a:xfrm>
            <a:off x="8485632" y="32735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/ exit history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302752" y="3758184"/>
            <a:ext cx="73152" cy="73152"/>
          </a:xfrm>
          <a:prstGeom prst="ellipse">
            <a:avLst/>
          </a:prstGeom>
          <a:solidFill>
            <a:srgbClr val="B86B3A"/>
          </a:solidFill>
          <a:ln/>
        </p:spPr>
      </p:sp>
      <p:sp>
        <p:nvSpPr>
          <p:cNvPr id="46" name="Text 44"/>
          <p:cNvSpPr/>
          <p:nvPr/>
        </p:nvSpPr>
        <p:spPr>
          <a:xfrm>
            <a:off x="8485632" y="36941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objective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302752" y="4178808"/>
            <a:ext cx="73152" cy="73152"/>
          </a:xfrm>
          <a:prstGeom prst="ellipse">
            <a:avLst/>
          </a:prstGeom>
          <a:solidFill>
            <a:srgbClr val="B86B3A"/>
          </a:solidFill>
          <a:ln/>
        </p:spPr>
      </p:sp>
      <p:sp>
        <p:nvSpPr>
          <p:cNvPr id="48" name="Text 46"/>
          <p:cNvSpPr/>
          <p:nvPr/>
        </p:nvSpPr>
        <p:spPr>
          <a:xfrm>
            <a:off x="8485632" y="4114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257032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how inputs are weighted.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smartest model selects the fewest, most relevant variables — not the most.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 D · ALGORITHMIC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→ Score → Value, in six stages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91840" cy="160020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1560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32186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metrics from the 19 inputs + AIDA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2194560"/>
            <a:ext cx="3291840" cy="160020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90288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32186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Peer-percentile rank vs the NACE cohort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00416" y="2194560"/>
            <a:ext cx="3291840" cy="160020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9016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129016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9016" y="32186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means → four capital scores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3291840" cy="160020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51560" y="4681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50474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CQS → SQF, clamped to 0.6–1.4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1688" y="4023360"/>
            <a:ext cx="3291840" cy="160020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90288" y="4681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90288" y="50474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Factor, then V and its range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00416" y="4023360"/>
            <a:ext cx="3291840" cy="160020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9016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129016" y="4681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9016" y="50474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flags → risk index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inspectable, the same code path the live product runs. No black box.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2C32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 D · VALUATION FORMULA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transparent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solidFill>
            <a:srgbClr val="1C2026"/>
          </a:solidFill>
          <a:ln w="15875">
            <a:solidFill>
              <a:srgbClr val="A66F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14884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214884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85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468880" y="21488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EBITDA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85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94960" y="214884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9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0" y="214884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85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75120" y="2148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8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SQF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46720" y="214884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85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503920" y="21488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8C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GF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EBITDA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earnings, from the AIDA filing.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93008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B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— sector multiple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93008" y="443484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NACE-calibrated comp, after a 25% illiquidity discount.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63056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AA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SQF — strategic quality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63056" y="443484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0.6–1.4. The four capitals. Penalises fragility.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833104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D3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GF — growth factor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33104" y="443484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CAGR + lifecycle + scalability.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Bianchi:  €750K × 5.0 × 1.05 × 1.07  ≈  €4.2M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2C3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· CALIBRATION &amp;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 on 14,999 real SMEs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14,999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86968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5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AIDA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30168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van Dijk filings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NACE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73368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sector-level multiples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7830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±10%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16568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tolerance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would validate further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4151376"/>
            <a:ext cx="109728" cy="109728"/>
          </a:xfrm>
          <a:prstGeom prst="ellipse">
            <a:avLst/>
          </a:prstGeom>
          <a:solidFill>
            <a:srgbClr val="A66F18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V against realised transaction multiples where exit data exists.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608576"/>
            <a:ext cx="109728" cy="109728"/>
          </a:xfrm>
          <a:prstGeom prst="ellipse">
            <a:avLst/>
          </a:prstGeom>
          <a:solidFill>
            <a:srgbClr val="A66F18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hold-outs — confirm percentile ranks stay stable out-of-sample.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065776"/>
            <a:ext cx="109728" cy="109728"/>
          </a:xfrm>
          <a:prstGeom prst="ellipse">
            <a:avLst/>
          </a:prstGeom>
          <a:solidFill>
            <a:srgbClr val="A66F18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Weight-sensitivity — confirm no single input dominates the result.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5522976"/>
            <a:ext cx="109728" cy="109728"/>
          </a:xfrm>
          <a:prstGeom prst="ellipse">
            <a:avLst/>
          </a:prstGeom>
          <a:solidFill>
            <a:srgbClr val="A66F18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check: the reference profile must land within ±10% on V, SQF, GF.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· AIDA / Bureau van Dijk · n = 14,999 Italian manufacturing SMEs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III · THE PRODUCT  ·  DELIVERABLE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minutes later, Marco sees this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08792" cy="461772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10908792" cy="411480"/>
          </a:xfrm>
          <a:prstGeom prst="rect">
            <a:avLst/>
          </a:prstGeom>
          <a:solidFill>
            <a:srgbClr val="10131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591056"/>
            <a:ext cx="137160" cy="137160"/>
          </a:xfrm>
          <a:prstGeom prst="ellipse">
            <a:avLst/>
          </a:prstGeom>
          <a:solidFill>
            <a:srgbClr val="E5564B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591056"/>
            <a:ext cx="137160" cy="13716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591056"/>
            <a:ext cx="137160" cy="137160"/>
          </a:xfrm>
          <a:prstGeom prst="ellipse">
            <a:avLst/>
          </a:prstGeom>
          <a:solidFill>
            <a:srgbClr val="4FA86B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Bianchi Meccanica S.R.L.   ·   NACE 282 · Machinery   ·   Lombardia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VALUE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350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€4.2M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€3.8–4.7M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GAP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38728" y="2350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8C2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38728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€5.8M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08776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8776" y="2350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67/100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08776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78824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78824" y="2350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878824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concentration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3337560"/>
            <a:ext cx="10424160" cy="0"/>
          </a:xfrm>
          <a:prstGeom prst="line">
            <a:avLst/>
          </a:prstGeom>
          <a:noFill/>
          <a:ln w="9525">
            <a:solidFill>
              <a:srgbClr val="2C3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4-CAPITAL FINGERPRINT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77240" y="3931920"/>
          <a:ext cx="41148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5303520" y="3456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3 PRIORITY ACTIONS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303520" y="3840480"/>
            <a:ext cx="502920" cy="502920"/>
          </a:xfrm>
          <a:prstGeom prst="rect">
            <a:avLst/>
          </a:prstGeom>
          <a:solidFill>
            <a:srgbClr val="14161B"/>
          </a:solidFill>
          <a:ln w="12700">
            <a:solidFill>
              <a:srgbClr val="A66F1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client concentration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014984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8C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V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303520" y="4498848"/>
            <a:ext cx="502920" cy="502920"/>
          </a:xfrm>
          <a:prstGeom prst="rect">
            <a:avLst/>
          </a:prstGeom>
          <a:solidFill>
            <a:srgbClr val="14161B"/>
          </a:solidFill>
          <a:ln w="12700">
            <a:solidFill>
              <a:srgbClr val="A66F1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0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943600" y="44988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recurring revenue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0149840" y="44988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8C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 V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303520" y="5157216"/>
            <a:ext cx="502920" cy="502920"/>
          </a:xfrm>
          <a:prstGeom prst="rect">
            <a:avLst/>
          </a:prstGeom>
          <a:solidFill>
            <a:srgbClr val="14161B"/>
          </a:solidFill>
          <a:ln w="12700">
            <a:solidFill>
              <a:srgbClr val="A66F1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03520" y="5157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0" y="51572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middle management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10149840" y="51572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8C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 V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2C323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 G · PRODUCT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show first — and what we cut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4160520"/>
          </a:xfrm>
          <a:prstGeom prst="rect">
            <a:avLst/>
          </a:prstGeom>
          <a:solidFill>
            <a:srgbClr val="1C7A4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Shown first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range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352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he actually asked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4107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398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 he can act 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153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is useless without prescription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0200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risk signal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thing most likely to bite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1783080"/>
            <a:ext cx="5349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783080"/>
            <a:ext cx="64008" cy="4160520"/>
          </a:xfrm>
          <a:prstGeom prst="rect">
            <a:avLst/>
          </a:prstGeom>
          <a:solidFill>
            <a:srgbClr val="8A8F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5C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Deliberately cut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3952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40-field 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29352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answers 19 questions, not 100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34107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model internals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37398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live behind an info-button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73952" y="42153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precision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3952" y="45445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range, never a fake single point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3952" y="50200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dashboard-for-its-own-sake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73952" y="5349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tile must drive a decision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III · 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Marco's real surprise wasn't the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the €1.6M sitting just out of reach — and the fact that someone could finally show him the path to it.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€4.2M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58368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TODAY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26974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A66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51960" y="2697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66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€5.8M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70248" y="3493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OPTIMISED POTENTIAL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6400800" cy="868680"/>
          </a:xfrm>
          <a:prstGeom prst="rect">
            <a:avLst/>
          </a:prstGeom>
          <a:solidFill>
            <a:srgbClr val="EAF2E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1148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+38%   </a:t>
            </a:r>
            <a:pPr indent="0" marL="0">
              <a:buNone/>
            </a:pPr>
            <a:r>
              <a:rPr lang="en-US" sz="1400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unrealised — addressable through the Top-3.</a:t>
            </a:r>
            <a:endParaRPr lang="en-US" sz="2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498080" y="2194560"/>
          <a:ext cx="4023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III · 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Marco's company has a shape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scores draw a unique figure on fixed axes. Marco reads his own balance at a glance — solid financials and people, thinner on technology and network — and sees instantly where a fragile peer differs.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419856"/>
            <a:ext cx="146304" cy="146304"/>
          </a:xfrm>
          <a:prstGeom prst="ellipse">
            <a:avLst/>
          </a:prstGeom>
          <a:solidFill>
            <a:srgbClr val="2A5FA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68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877056"/>
            <a:ext cx="146304" cy="146304"/>
          </a:xfrm>
          <a:prstGeom prst="ellipse">
            <a:avLst/>
          </a:prstGeom>
          <a:solidFill>
            <a:srgbClr val="5B5FD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54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4334256"/>
            <a:ext cx="146304" cy="146304"/>
          </a:xfrm>
          <a:prstGeom prst="ellipse">
            <a:avLst/>
          </a:prstGeom>
          <a:solidFill>
            <a:srgbClr val="B86B3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Org. 71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791456"/>
            <a:ext cx="146304" cy="146304"/>
          </a:xfrm>
          <a:prstGeom prst="ellipse">
            <a:avLst/>
          </a:prstGeom>
          <a:solidFill>
            <a:srgbClr val="1E7A4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55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0" y="1828800"/>
          <a:ext cx="2651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40080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5C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Bianchi · balanced</a:t>
            </a:r>
            <a:endParaRPr lang="en-US" sz="10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9098280" y="1828800"/>
          <a:ext cx="2651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909828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5C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Fragile peer · founder-led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 F · IMPROVEMENT LEVERS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diagnosis to a 24-month plan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action is simulated through the same valuation math — move the lever, re-run V, keep the three with the highest Return on Value.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08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64008" cy="987552"/>
          </a:xfrm>
          <a:prstGeom prst="rect">
            <a:avLst/>
          </a:prstGeom>
          <a:solidFill>
            <a:srgbClr val="2A5FA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468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client concentration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852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from 60% → under 40%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2286000"/>
            <a:ext cx="1828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5C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SQF +0.12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0" y="2286000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+12% V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908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29000"/>
            <a:ext cx="64008" cy="987552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29000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5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3611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recurring revenue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995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contracts &amp; spare-part subscriptions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3429000"/>
            <a:ext cx="1828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5C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 +0.15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0" y="3429000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+9% V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908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572000"/>
            <a:ext cx="64008" cy="987552"/>
          </a:xfrm>
          <a:prstGeom prst="rect">
            <a:avLst/>
          </a:prstGeom>
          <a:solidFill>
            <a:srgbClr val="B86B3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72000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4754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Strengthen middle management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138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founder dependency, lift transferability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4572000"/>
            <a:ext cx="1828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5C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0" y="4572000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+7% V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THE BRIEF · SIMULATION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rehearses the decision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committing real money, he drags a lever and watches value recompute live — on the same engine, no second model. A valuation report becomes a planning instrument.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concentration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931920" y="3310128"/>
            <a:ext cx="4754880" cy="109728"/>
          </a:xfrm>
          <a:prstGeom prst="rect">
            <a:avLst/>
          </a:prstGeom>
          <a:solidFill>
            <a:srgbClr val="2C323A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0" y="3310128"/>
            <a:ext cx="1664208" cy="109728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8" name="Shape 6"/>
          <p:cNvSpPr/>
          <p:nvPr/>
        </p:nvSpPr>
        <p:spPr>
          <a:xfrm>
            <a:off x="5504688" y="3218688"/>
            <a:ext cx="292608" cy="292608"/>
          </a:xfrm>
          <a:prstGeom prst="ellipse">
            <a:avLst/>
          </a:prstGeom>
          <a:solidFill>
            <a:srgbClr val="E0B566"/>
          </a:solidFill>
          <a:ln w="19050">
            <a:solidFill>
              <a:srgbClr val="141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→ 30%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469880" y="3200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8C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41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931920" y="4151376"/>
            <a:ext cx="4754880" cy="109728"/>
          </a:xfrm>
          <a:prstGeom prst="rect">
            <a:avLst/>
          </a:prstGeom>
          <a:solidFill>
            <a:srgbClr val="2C32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4151376"/>
            <a:ext cx="2615184" cy="109728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55664" y="4059936"/>
            <a:ext cx="292608" cy="292608"/>
          </a:xfrm>
          <a:prstGeom prst="ellipse">
            <a:avLst/>
          </a:prstGeom>
          <a:solidFill>
            <a:srgbClr val="E0B566"/>
          </a:solidFill>
          <a:ln w="190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4041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→ 40%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469880" y="40416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8C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 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882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/ revenue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31920" y="4992624"/>
            <a:ext cx="4754880" cy="109728"/>
          </a:xfrm>
          <a:prstGeom prst="rect">
            <a:avLst/>
          </a:prstGeom>
          <a:solidFill>
            <a:srgbClr val="2C323A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1920" y="4992624"/>
            <a:ext cx="3328416" cy="109728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20" name="Shape 18"/>
          <p:cNvSpPr/>
          <p:nvPr/>
        </p:nvSpPr>
        <p:spPr>
          <a:xfrm>
            <a:off x="7168896" y="4901184"/>
            <a:ext cx="292608" cy="292608"/>
          </a:xfrm>
          <a:prstGeom prst="ellipse">
            <a:avLst/>
          </a:prstGeom>
          <a:solidFill>
            <a:srgbClr val="E0B566"/>
          </a:solidFill>
          <a:ln w="19050">
            <a:solidFill>
              <a:srgbClr val="1416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48828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 → 2.5%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469880" y="48828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8C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2C3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III · THE PAYOFF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14173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didn't sell.
</a:t>
            </a:r>
            <a:pPr indent="0" marL="0">
              <a:lnSpc>
                <a:spcPct val="106000"/>
              </a:lnSpc>
              <a:buNone/>
            </a:pPr>
            <a:r>
              <a:rPr lang="en-US" sz="4000" b="1" i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started closing the gap.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164592" cy="164592"/>
          </a:xfrm>
          <a:prstGeom prst="ellipse">
            <a:avLst/>
          </a:prstGeom>
          <a:solidFill>
            <a:srgbClr val="78C28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signed two recurring service contracts  </a:t>
            </a:r>
            <a:pPr indent="0" marL="0">
              <a:buNone/>
            </a:pPr>
            <a:r>
              <a:rPr lang="en-US" sz="14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concentration down, GF up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416552"/>
            <a:ext cx="164592" cy="164592"/>
          </a:xfrm>
          <a:prstGeom prst="ellipse">
            <a:avLst/>
          </a:prstGeom>
          <a:solidFill>
            <a:srgbClr val="78C28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370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promoted an operations lead  </a:t>
            </a:r>
            <a:pPr indent="0" marL="0">
              <a:buNone/>
            </a:pPr>
            <a:r>
              <a:rPr lang="en-US" sz="14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founder dependency down, risk down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5129784"/>
            <a:ext cx="164592" cy="164592"/>
          </a:xfrm>
          <a:prstGeom prst="ellipse">
            <a:avLst/>
          </a:prstGeom>
          <a:solidFill>
            <a:srgbClr val="78C28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0840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re-checks his value every quarter  </a:t>
            </a:r>
            <a:pPr indent="0" marL="0">
              <a:buNone/>
            </a:pPr>
            <a:r>
              <a:rPr lang="en-US" sz="145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compass became a habit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 wasn't a number. It was an owner who could finally steer.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2C3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BUSINESS · 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VIP reaches the other 4.9 million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priced by coverage. Every tier runs the identical calibrated model — paying more buys more companies and control, never a different answer.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930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pPr indent="0" marL="0">
              <a:buNone/>
            </a:pPr>
            <a:r>
              <a:rPr lang="en-US" sz="1200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forever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0416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4041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AIDA factsheet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517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45171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19-question diagnostic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992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9926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+ value bridge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34256" y="2148840"/>
            <a:ext cx="3493008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A66F18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02936" y="1783080"/>
            <a:ext cx="1755648" cy="365760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8" name="Text 16"/>
          <p:cNvSpPr/>
          <p:nvPr/>
        </p:nvSpPr>
        <p:spPr>
          <a:xfrm>
            <a:off x="5202936" y="17830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CHOSEN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08576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08576" y="2816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66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€79</a:t>
            </a:r>
            <a:pPr indent="0" marL="0">
              <a:buNone/>
            </a:pPr>
            <a:r>
              <a:rPr lang="en-US" sz="1200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/ month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08576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01184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companies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08576" y="40416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01184" y="4041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overrides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08576" y="4517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01184" y="45171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lab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08576" y="4992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01184" y="49926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PDF export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28432" y="2148840"/>
            <a:ext cx="34930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Advisory Desk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302752" y="2816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€249</a:t>
            </a:r>
            <a:pPr indent="0" marL="0">
              <a:buNone/>
            </a:pPr>
            <a:r>
              <a:rPr lang="en-US" sz="1200" dirty="0">
                <a:solidFill>
                  <a:srgbClr val="8A8F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/ month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302752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0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02752" y="40416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95360" y="4041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comparison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02752" y="4517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95360" y="45171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reports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302752" y="4992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595360" y="49926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Scoring-engine API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66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 · 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compass for a vast, underserved market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930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in Italy — the calibration home market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4256" y="1737360"/>
            <a:ext cx="34930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5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08576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across the EU, 99.8% of all firms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28432" y="1737360"/>
            <a:ext cx="34930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9"/>
            </a:solidFill>
            <a:prstDash val="solid"/>
          </a:ln>
          <a:effectLst>
            <a:outerShdw sx="100000" sy="100000" kx="0" ky="0" algn="bl" rotWithShape="0" blurRad="114300" dist="38100" dir="5400000">
              <a:srgbClr val="8C857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84464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66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€0–249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02752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4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tiers — no consultant required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908792" cy="187452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657600"/>
            <a:ext cx="64008" cy="1874520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wedge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4251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 check their company's worth about as often as their own net worth — rarely, and never with confidence. VIP turns a once-a-decade question into a five-minute quarterly habit: the compass that lives between the annual accounts and the eventual exit.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DAD5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· Eurostat / EC Annual Report on European SMEs 2024/25 · ISTAT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 MOCKUP — A LIVE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draw it. We shipped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074920" cy="86868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" cy="868680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386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+ Supabase + Vercel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7523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authenticated, deployed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5074920" cy="86868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2240280"/>
            <a:ext cx="54864" cy="868680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2386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6-stage scoring engine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27523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the app and the simulator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5074920" cy="86868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291840"/>
            <a:ext cx="54864" cy="868680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34381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14,999-SME AIDA dataset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8039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calibration, not synthetic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291840"/>
            <a:ext cx="5074920" cy="868680"/>
          </a:xfrm>
          <a:prstGeom prst="rect">
            <a:avLst/>
          </a:prstGeom>
          <a:solidFill>
            <a:srgbClr val="1C2026"/>
          </a:solidFill>
          <a:ln w="12700">
            <a:solidFill>
              <a:srgbClr val="2C3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291840"/>
            <a:ext cx="54864" cy="868680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34381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· compare · simulate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28232" y="38039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working in the browser today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live:  vip-web-gules.vercel.app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4-capital model · scoring logic · valuation formula · recommendation · dashboard · exec summary — every deliverable, demonstrated on a real company.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2C3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· Value Intelligence Platform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80567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6F18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1371600"/>
            <a:ext cx="5486400" cy="5486400"/>
          </a:xfrm>
          <a:prstGeom prst="ellipse">
            <a:avLst/>
          </a:prstGeom>
          <a:ln w="12700">
            <a:solidFill>
              <a:srgbClr val="2C323A"/>
            </a:solidFill>
            <a:prstDash val="solid"/>
          </a:ln>
        </p:spPr>
      </p:sp>
      <p:pic>
        <p:nvPicPr>
          <p:cNvPr id="4" name="Image 0" descr="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331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97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INTELLIGENCE PLATFORM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269748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owner deserves to
</a:t>
            </a:r>
            <a:pPr indent="0" marL="0">
              <a:lnSpc>
                <a:spcPct val="106000"/>
              </a:lnSpc>
              <a:buNone/>
            </a:pPr>
            <a:r>
              <a:rPr lang="en-US" sz="4200" b="1" i="1" dirty="0">
                <a:solidFill>
                  <a:srgbClr val="E0B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their own value.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68096" y="4389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A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can now. So can the other 4.9 million.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5029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0B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vip-web-gules.vercel.app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F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Intelligence Platform — Pitch</dc:title>
  <dc:subject>PptxGenJS Presentation</dc:subject>
  <dc:creator>Harish Bhavandla</dc:creator>
  <cp:lastModifiedBy>Harish Bhavandla</cp:lastModifiedBy>
  <cp:revision>1</cp:revision>
  <dcterms:created xsi:type="dcterms:W3CDTF">2026-06-06T10:28:54Z</dcterms:created>
  <dcterms:modified xsi:type="dcterms:W3CDTF">2026-06-06T10:28:54Z</dcterms:modified>
</cp:coreProperties>
</file>